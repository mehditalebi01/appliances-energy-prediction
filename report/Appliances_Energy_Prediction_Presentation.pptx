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Appliances Energy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FAFFF"/>
                </a:solidFill>
                <a:latin typeface="Calibri"/>
              </a:defRPr>
            </a:pPr>
            <a:r>
              <a:t>Nonlinear Regression with Ensemble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291840"/>
            <a:ext cx="27432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A3B5"/>
                </a:solidFill>
                <a:latin typeface="Calibri"/>
              </a:defRPr>
            </a:pPr>
            <a:r>
              <a:t>Machine Learning  | 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Mehdi Talebi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3B5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828800" cy="274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Problem Statement &amp;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92024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51460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10896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Models &amp; Hyperparameter 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70332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Results &amp; Model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429768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89204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Error Analysis &amp;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5486400"/>
            <a:ext cx="7315200" cy="9144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623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623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BF0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 &amp;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BF0"/>
                </a:solidFill>
                <a:latin typeface="Calibri"/>
              </a:defRPr>
            </a:pPr>
            <a:r>
              <a:t>Predict household appliance energy consumption (Wh per 10-min interval) using environmental sensor data from a low-energy house in Belgium.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  <a:latin typeface="Calibri"/>
              </a:defRPr>
            </a:pPr>
            <a:r>
              <a:t>Why Nonlinear?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BF0"/>
                </a:solidFill>
                <a:latin typeface="Calibri"/>
              </a:defRPr>
            </a:pPr>
            <a:r>
              <a:t>Energy patterns are driven by occupancy thresholds, comfort zones, and time-of-day effects — inherently nonlinear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Dataset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Source: UCI ML Repository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19,735 observations (10-min intervals)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29 columns (25 predictors + target)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~4.5 months of data collection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Target: Appliances (energy in Wh)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Missing values: None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Candanedo et al.,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3B5"/>
                </a:solidFill>
                <a:latin typeface="Calibri"/>
              </a:defRPr>
            </a:pPr>
            <a:r>
              <a:t>Target Distribution (right-skewed)</a:t>
            </a:r>
          </a:p>
        </p:txBody>
      </p:sp>
      <p:pic>
        <p:nvPicPr>
          <p:cNvPr id="7" name="Picture 6" descr="05_temporal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576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3B5"/>
                </a:solidFill>
                <a:latin typeface="Calibri"/>
              </a:defRPr>
            </a:pPr>
            <a:r>
              <a:t>Temporal Consumption Patterns</a:t>
            </a:r>
          </a:p>
        </p:txBody>
      </p:sp>
      <p:pic>
        <p:nvPicPr>
          <p:cNvPr id="9" name="Picture 8" descr="02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65760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3B5"/>
                </a:solidFill>
                <a:latin typeface="Calibri"/>
              </a:defRPr>
            </a:pPr>
            <a:r>
              <a:t>Feature Correlation Heatmap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Skewness ~3.6: most readings &lt; 100 Wh, spikes up to 1,080 Wh</a:t>
            </a:r>
          </a:p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Weak individual correlations (max |r| &lt; 0.3) suggest nonlinear dependencies</a:t>
            </a:r>
          </a:p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Clear morning/evening peaks; weekday vs weekend differences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7432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90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Extracted hour, day_of_week,</a:t>
            </a:r>
            <a:br/>
            <a:r>
              <a:t>month, is_weekend</a:t>
            </a:r>
            <a:br/>
            <a:r>
              <a:t>from timestamp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51760" cy="27432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651760" cy="54864"/>
          </a:xfrm>
          <a:prstGeom prst="rect">
            <a:avLst/>
          </a:prstGeom>
          <a:solidFill>
            <a:srgbClr val="4F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A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Column Removal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Dropped date (after extraction),</a:t>
            </a:r>
            <a:br/>
            <a:r>
              <a:t>rv1, rv2 (random noise</a:t>
            </a:r>
            <a:br/>
            <a:r>
              <a:t>variables)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51760" cy="27432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B8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Outlier Treatment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IQR-based capping on target</a:t>
            </a:r>
            <a:br/>
            <a:r>
              <a:t>variable (winsorize, not</a:t>
            </a:r>
            <a:br/>
            <a:r>
              <a:t>remove)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651760" cy="27432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45920"/>
            <a:ext cx="265176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7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StandardScaler fitted on</a:t>
            </a:r>
            <a:br/>
            <a:r>
              <a:t>train data only</a:t>
            </a:r>
            <a:br/>
            <a:r>
              <a:t>(prevents leakage)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BA3B5"/>
                </a:solidFill>
                <a:latin typeface="Calibri"/>
              </a:defRPr>
            </a:pPr>
            <a:r>
              <a:t>Train-Test Split:  80/20  |  5-Fold Cross-Validation  |  Random State = 42</a:t>
            </a:r>
          </a:p>
        </p:txBody>
      </p:sp>
      <p:pic>
        <p:nvPicPr>
          <p:cNvPr id="26" name="Picture 25" descr="06_outlier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303520"/>
            <a:ext cx="3931920" cy="1371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Models &amp; Hyperparameter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7280" cy="320040"/>
          </a:xfrm>
          <a:prstGeom prst="roundRect">
            <a:avLst/>
          </a:prstGeom>
          <a:solidFill>
            <a:srgbClr val="9BA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No 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39" y="146304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19" y="1645920"/>
            <a:ext cx="1097280" cy="320040"/>
          </a:xfrm>
          <a:prstGeom prst="roundRect">
            <a:avLst/>
          </a:prstGeom>
          <a:solidFill>
            <a:srgbClr val="4F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Nonlinear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Polynomial 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degree=2, alpha=0.1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8" y="146304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8" y="1645920"/>
            <a:ext cx="1097280" cy="320040"/>
          </a:xfrm>
          <a:prstGeom prst="roundRect">
            <a:avLst/>
          </a:prstGeom>
          <a:solidFill>
            <a:srgbClr val="4F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Nonlinear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8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depth=20, min_leaf=5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97280" cy="320040"/>
          </a:xfrm>
          <a:prstGeom prst="roundRect">
            <a:avLst/>
          </a:prstGeom>
          <a:solidFill>
            <a:srgbClr val="4F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Nonlinear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SVR (RBF)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C=100, gamma=0.1, eps=0.5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39" y="384048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19" y="4023360"/>
            <a:ext cx="1097280" cy="3200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200 trees, min_leaf=2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8" y="3840480"/>
            <a:ext cx="3474720" cy="201168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58" y="4023360"/>
            <a:ext cx="1097280" cy="3200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D3A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8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3B5"/>
                </a:solidFill>
                <a:latin typeface="Calibri"/>
              </a:defRPr>
            </a:pPr>
            <a:r>
              <a:t>Best params: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8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Calibri"/>
              </a:defRPr>
            </a:pPr>
            <a:r>
              <a:t>200 est., depth=7, lr=0.1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Tuning: GridSearchCV  |  Scoring: neg_mean_squared_error  |  CV: 5-fold (3-fold for SVR)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&amp;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MAE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RMSE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R²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7.02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14.66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10.89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22.11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0.936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800"/>
                          </a:solidFill>
                          <a:latin typeface="Calibri"/>
                        </a:defRPr>
                      </a:pPr>
                      <a:r>
                        <a:t>0.734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10.70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15.71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14.68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23.16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0.883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0.708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SVR (RBF)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12.29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16.16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22.38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26.44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0.729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0.620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9.53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17.13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15.62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27.66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0.868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26.41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26.42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35.86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35.58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0.304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0.311</a:t>
                      </a:r>
                    </a:p>
                  </a:txBody>
                  <a:tcPr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Polynomial Ridge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26.00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26.62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35.38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36.15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0.322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BF0"/>
                          </a:solidFill>
                          <a:latin typeface="Calibri"/>
                        </a:defRPr>
                      </a:pPr>
                      <a:r>
                        <a:t>0.289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4880"/>
            <a:ext cx="5029200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4754880"/>
            <a:ext cx="5760720" cy="1828800"/>
          </a:xfrm>
          <a:prstGeom prst="round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Random Forest = best model (R² = 0.734)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Nonlinear improves R² from 0.31 to 0.73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Decision Tree overfits (train 0.87 vs test 0.58)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Random Forest Feature Importance</a:t>
            </a:r>
          </a:p>
        </p:txBody>
      </p:sp>
      <p:pic>
        <p:nvPicPr>
          <p:cNvPr id="7" name="Picture 6" descr="11_permut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Permutation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BF0"/>
                </a:solidFill>
                <a:latin typeface="Calibri"/>
              </a:defRPr>
            </a:pPr>
            <a:r>
              <a:t>Top features:  lights (occupancy proxy)  |  T6, T3, T8 (indoor temps)  |  hour, day_of_week (temporal)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Error Analysis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residual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120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Residual Plots (Best Model)</a:t>
            </a:r>
          </a:p>
        </p:txBody>
      </p:sp>
      <p:pic>
        <p:nvPicPr>
          <p:cNvPr id="7" name="Picture 6" descr="13_erro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120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Large-Error Case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Near-zero mean residuals (unbiased predictions)</a:t>
            </a:r>
          </a:p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Struggles with high-consumption spikes (~5% large errors)</a:t>
            </a:r>
          </a:p>
          <a:p>
            <a:pPr>
              <a:spcAft>
                <a:spcPts val="800"/>
              </a:spcAft>
              <a:defRPr sz="1300">
                <a:solidFill>
                  <a:srgbClr val="E8EBF0"/>
                </a:solidFill>
                <a:latin typeface="Calibri"/>
              </a:defRPr>
            </a:pPr>
            <a:r>
              <a:t>Mild heteroscedasticity at higher predicted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Random Forest is the best-performing model</a:t>
            </a:r>
            <a:br/>
            <a:r>
              <a:t>(R² = 0.734, MAE = 14.66 Wh)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Nonlinear &amp; ensemble methods substantially</a:t>
            </a:r>
            <a:br/>
            <a:r>
              <a:t>outperform linear approaches (+130% R²)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Feature importance aligns with domain knowledge:</a:t>
            </a:r>
            <a:br/>
            <a:r>
              <a:t>lights, temperature, and temporal features dominate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Trade-off: RF achieves best accuracy but is less</a:t>
            </a:r>
            <a:br/>
            <a:r>
              <a:t>interpretable than linear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18288" cy="45720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Single building (Belgium, low-energy house)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4.5-month window (incomplete seasons)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No explicit occupancy data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Ignores temporal autocorrelation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LSTM / GRU for temporal dependencies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Real-time occupancy sensor integration</a:t>
            </a:r>
          </a:p>
          <a:p>
            <a:pPr>
              <a:spcAft>
                <a:spcPts val="800"/>
              </a:spcAft>
              <a:defRPr sz="1400">
                <a:solidFill>
                  <a:srgbClr val="E8EBF0"/>
                </a:solidFill>
                <a:latin typeface="Calibri"/>
              </a:defRPr>
            </a:pPr>
            <a:r>
              <a:t>Multi-building 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Overfitting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3B5"/>
                </a:solidFill>
                <a:latin typeface="Calibri"/>
              </a:defRPr>
            </a:pPr>
            <a:r>
              <a:t>Learning curve of the best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0972800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BF0"/>
                </a:solidFill>
                <a:latin typeface="Calibri"/>
              </a:defRPr>
            </a:pPr>
            <a:r>
              <a:t>Training and validation scores converge, indicating the model generalizes well without severe overfitting.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017520"/>
            <a:ext cx="27432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FAFFF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Mehdi Talebi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90FF"/>
                </a:solidFill>
                <a:latin typeface="Calibri"/>
              </a:defRPr>
            </a:pPr>
            <a:r>
              <a:t>github.com/mehditalebi01/Appliances-Energy-Prediction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BA3B5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